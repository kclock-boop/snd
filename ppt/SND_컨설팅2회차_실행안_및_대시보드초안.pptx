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21f7680e7b4c38" /><Relationship Type="http://schemas.openxmlformats.org/officeDocument/2006/relationships/extended-properties" Target="/docProps/app.xml" Id="R93ca1b87d2bc480a" /><Relationship Type="http://schemas.openxmlformats.org/officeDocument/2006/relationships/officeDocument" Target="/ppt/presentation.xml" Id="Ra931ffc0d75941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d49315d3724d39"/>
  </p:sldMasterIdLst>
  <p:notesMasterIdLst>
    <p:notesMasterId xmlns:r="http://schemas.openxmlformats.org/officeDocument/2006/relationships" r:id="R4a0966143bdb4a94"/>
  </p:notesMasterIdLst>
  <p:sldIdLst>
    <p:sldId xmlns:r="http://schemas.openxmlformats.org/officeDocument/2006/relationships" id="256" r:id="R6258bdee5c4446cb"/>
    <p:sldId xmlns:r="http://schemas.openxmlformats.org/officeDocument/2006/relationships" id="257" r:id="R9f3e7fcd464c486c"/>
    <p:sldId xmlns:r="http://schemas.openxmlformats.org/officeDocument/2006/relationships" id="258" r:id="R427aedf840d64436"/>
    <p:sldId xmlns:r="http://schemas.openxmlformats.org/officeDocument/2006/relationships" id="259" r:id="R033dcb519dc94696"/>
    <p:sldId xmlns:r="http://schemas.openxmlformats.org/officeDocument/2006/relationships" id="260" r:id="R1aa27b9c159b42e0"/>
    <p:sldId xmlns:r="http://schemas.openxmlformats.org/officeDocument/2006/relationships" id="261" r:id="Rdf0faf8cca644e58"/>
    <p:sldId xmlns:r="http://schemas.openxmlformats.org/officeDocument/2006/relationships" id="262" r:id="R2f5edde10b5141a1"/>
    <p:sldId xmlns:r="http://schemas.openxmlformats.org/officeDocument/2006/relationships" id="263" r:id="R1424585d447846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4e4cab39ba42d7" /><Relationship Type="http://schemas.openxmlformats.org/officeDocument/2006/relationships/slideMaster" Target="/ppt/slideMasters/slideMaster1.xml" Id="Rf1d49315d3724d39" /><Relationship Type="http://schemas.openxmlformats.org/officeDocument/2006/relationships/notesMaster" Target="/ppt/notesMasters/notesMaster1.xml" Id="R4a0966143bdb4a94" /><Relationship Type="http://schemas.openxmlformats.org/officeDocument/2006/relationships/presProps" Target="/ppt/presProps.xml" Id="Rdb103f5b93584870" /><Relationship Type="http://schemas.openxmlformats.org/officeDocument/2006/relationships/tableStyles" Target="/ppt/tableStyles.xml" Id="R9ef7d8d0d5e744f5" /><Relationship Type="http://schemas.openxmlformats.org/officeDocument/2006/relationships/slide" Target="/ppt/slides/slide1.xml" Id="R6258bdee5c4446cb" /><Relationship Type="http://schemas.openxmlformats.org/officeDocument/2006/relationships/slide" Target="/ppt/slides/slide2.xml" Id="R9f3e7fcd464c486c" /><Relationship Type="http://schemas.openxmlformats.org/officeDocument/2006/relationships/slide" Target="/ppt/slides/slide3.xml" Id="R427aedf840d64436" /><Relationship Type="http://schemas.openxmlformats.org/officeDocument/2006/relationships/slide" Target="/ppt/slides/slide4.xml" Id="R033dcb519dc94696" /><Relationship Type="http://schemas.openxmlformats.org/officeDocument/2006/relationships/slide" Target="/ppt/slides/slide5.xml" Id="R1aa27b9c159b42e0" /><Relationship Type="http://schemas.openxmlformats.org/officeDocument/2006/relationships/slide" Target="/ppt/slides/slide6.xml" Id="Rdf0faf8cca644e58" /><Relationship Type="http://schemas.openxmlformats.org/officeDocument/2006/relationships/slide" Target="/ppt/slides/slide7.xml" Id="R2f5edde10b5141a1" /><Relationship Type="http://schemas.openxmlformats.org/officeDocument/2006/relationships/slide" Target="/ppt/slides/slide8.xml" Id="R1424585d4478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5019b574a9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e756420bd4f51" /><Relationship Type="http://schemas.openxmlformats.org/officeDocument/2006/relationships/notesMaster" Target="/ppt/notesMasters/notesMaster1.xml" Id="Rc3dfa38adf3440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b8641a59bc4f23" /><Relationship Type="http://schemas.openxmlformats.org/officeDocument/2006/relationships/notesMaster" Target="/ppt/notesMasters/notesMaster1.xml" Id="Rb9467d06045d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ff376ef2c54af9" /><Relationship Type="http://schemas.openxmlformats.org/officeDocument/2006/relationships/notesMaster" Target="/ppt/notesMasters/notesMaster1.xml" Id="R1cbe2dc31991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ab5e1bb5eb4fac" /><Relationship Type="http://schemas.openxmlformats.org/officeDocument/2006/relationships/notesMaster" Target="/ppt/notesMasters/notesMaster1.xml" Id="R7aaba7607551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f7e7b4294d4d9a" /><Relationship Type="http://schemas.openxmlformats.org/officeDocument/2006/relationships/notesMaster" Target="/ppt/notesMasters/notesMaster1.xml" Id="R5b3eb49170be4a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69eb0868674b3f" /><Relationship Type="http://schemas.openxmlformats.org/officeDocument/2006/relationships/notesMaster" Target="/ppt/notesMasters/notesMaster1.xml" Id="Ra6260254e7eb43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5ef98bb45a4a71" /><Relationship Type="http://schemas.openxmlformats.org/officeDocument/2006/relationships/notesMaster" Target="/ppt/notesMasters/notesMaster1.xml" Id="Rbba89172951b45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5359f8210d4040" /><Relationship Type="http://schemas.openxmlformats.org/officeDocument/2006/relationships/notesMaster" Target="/ppt/notesMasters/notesMaster1.xml" Id="R7ed932b43f634d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D:/ksh(200227)+/2-경총(AI확산센터)/26년/7-S&amp;D/기업자료/회사 소개서_(주)SnD_2026.02.pdf</a:t>
            </a:r>
          </a:p>
          <a:p xmlns:a="http://schemas.openxmlformats.org/drawingml/2006/main">
            <a:r>
              <a:t>- Visible summary framing is newly authored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D:/ksh(200227)+/2-경총(AI확산센터)/26년/7-S&amp;D/기업자료/회사 소개서_(주)SnD_2026.02.pdf</a:t>
            </a:r>
          </a:p>
          <a:p xmlns:a="http://schemas.openxmlformats.org/drawingml/2006/main">
            <a:r>
              <a:t>- D:/ksh(200227)+/2-경총(AI확산센터)/26년/7-S&amp;D/기업자료/조직도_SND.pdf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MVP structuring is newly synthesized from the PoC plan and dashboard sections in the source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Common-key and field recommendations are based on the Data Room and history-management sections of the source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Role-based dashboard definitions follow the dashboard-planning section in the source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 composition is based on the role/KPI requirements in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All visible KPI values on this slide are illustrative mock values for prototype layout review and are not sourced operational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Phase grouping is a condensed version of the source PoC roadmap, adapted into an executable 4-step consulting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D:/ksh(200227)+/2-경총(AI확산센터)/26년/7-S&amp;D/훈련로드맵결과/SnD_현장업무_자동화_구축계획서.pdf</a:t>
            </a:r>
          </a:p>
          <a:p xmlns:a="http://schemas.openxmlformats.org/drawingml/2006/main">
            <a:r>
              <a:t>- Closing recommendations are newly authored based on the source document's governance, workflow, and roadmap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e852ffd9d45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b7a512c88f4dc8" /><Relationship Type="http://schemas.openxmlformats.org/officeDocument/2006/relationships/slideLayout" Target="/ppt/slideLayouts/slideLayout1.xml" Id="Ra2435dc47d4e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435dc47d4e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49f414ca44422" /><Relationship Type="http://schemas.openxmlformats.org/officeDocument/2006/relationships/notesSlide" Target="/ppt/notesSlides/notesSlide1.xml" Id="R01c75777616946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cdb0915394e5a" /><Relationship Type="http://schemas.openxmlformats.org/officeDocument/2006/relationships/notesSlide" Target="/ppt/notesSlides/notesSlide2.xml" Id="Rcbb0e60579bf4c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8cb4982fd4b91" /><Relationship Type="http://schemas.openxmlformats.org/officeDocument/2006/relationships/notesSlide" Target="/ppt/notesSlides/notesSlide3.xml" Id="R70e792b3277443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cdce083f54161" /><Relationship Type="http://schemas.openxmlformats.org/officeDocument/2006/relationships/notesSlide" Target="/ppt/notesSlides/notesSlide4.xml" Id="Rc88e64f96d8648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8aee5664d40b2" /><Relationship Type="http://schemas.openxmlformats.org/officeDocument/2006/relationships/notesSlide" Target="/ppt/notesSlides/notesSlide5.xml" Id="R59a0c3edf6eb40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b9f4a7b5c4397" /><Relationship Type="http://schemas.openxmlformats.org/officeDocument/2006/relationships/chart" Target="/ppt/slides/charts/chart1.xml" Id="R85b6dd57ad4442e9" /><Relationship Type="http://schemas.openxmlformats.org/officeDocument/2006/relationships/notesSlide" Target="/ppt/notesSlides/notesSlide6.xml" Id="R78af29c7359e43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cae7054774d6c" /><Relationship Type="http://schemas.openxmlformats.org/officeDocument/2006/relationships/notesSlide" Target="/ppt/notesSlides/notesSlide7.xml" Id="Rd18de7d4f88243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2e54b6f2b4b67" /><Relationship Type="http://schemas.openxmlformats.org/officeDocument/2006/relationships/notesSlide" Target="/ppt/notesSlides/notesSlide8.xml" Id="R0bb75b551ac7415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실적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4"/>
              <c:pt idx="0">
                <c:v>생산완료율</c:v>
              </c:pt>
              <c:pt idx="1">
                <c:v>납기준수율</c:v>
              </c:pt>
              <c:pt idx="2">
                <c:v>설비가동률</c:v>
              </c:pt>
              <c:pt idx="3">
                <c:v>품질합격률</c:v>
              </c:pt>
            </c:strLit>
          </c:cat>
          <c:val>
            <c:numLit>
              <c:formatCode>0</c:formatCode>
              <c:ptCount val="4"/>
              <c:pt idx="0">
                <c:v>92</c:v>
              </c:pt>
              <c:pt idx="1">
                <c:v>89</c:v>
              </c:pt>
              <c:pt idx="2">
                <c:v>84</c:v>
              </c:pt>
              <c:pt idx="3">
                <c:v>97.2</c:v>
              </c:pt>
            </c:numLit>
          </c:val>
        </c:ser>
        <c:ser>
          <c:idx val="1"/>
          <c:order val="1"/>
          <c:tx>
            <c:v>목표</c:v>
          </c:tx>
          <c:spPr>
            <a:solidFill xmlns:a="http://schemas.openxmlformats.org/drawingml/2006/main">
              <a:srgbClr val="C7D4E7"/>
            </a:solidFill>
          </c:spPr>
          <c:cat>
            <c:strLit>
              <c:ptCount val="4"/>
              <c:pt idx="0">
                <c:v>생산완료율</c:v>
              </c:pt>
              <c:pt idx="1">
                <c:v>납기준수율</c:v>
              </c:pt>
              <c:pt idx="2">
                <c:v>설비가동률</c:v>
              </c:pt>
              <c:pt idx="3">
                <c:v>품질합격률</c:v>
              </c:pt>
            </c:strLit>
          </c:cat>
          <c:val>
            <c:numLit>
              <c:formatCode>0</c:formatCode>
              <c:ptCount val="4"/>
              <c:pt idx="0">
                <c:v>95</c:v>
              </c:pt>
              <c:pt idx="1">
                <c:v>95</c:v>
              </c:pt>
              <c:pt idx="2">
                <c:v>88</c:v>
              </c:pt>
              <c:pt idx="3">
                <c:v>98.5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2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0242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672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672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A4C91-0744-43F5-8EB3-D0C715E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SND 2회차 컨설팅 실행안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E17D6-BB96-4DE9-8FDB-C21F32B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672"/>
                </a:solidFill>
              </a:defRPr>
            </a:pPr>
            <a:r>
              <a:rPr sz="1800">
                <a:solidFill>
                  <a:srgbClr val="5B6672"/>
                </a:solidFill>
              </a:rPr>
              <a:t>현장업무 자동화 우선과제와 통합 Dashboard 초안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32D64-1F84-47D5-89B8-2707E75E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5F2FF-9B22-4E31-AB5A-67C5FF0B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0242A"/>
                </a:solidFill>
              </a:defRPr>
            </a:pPr>
            <a:r>
              <a:rPr sz="1575">
                <a:solidFill>
                  <a:srgbClr val="20242A"/>
                </a:solidFill>
              </a:rPr>
              <a:t>생산실적 자동집계 · 공정 진행 가시화 · 품질/불량 분석 · 보고 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9FD78-5643-467D-B694-FA08159F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38200"/>
            <a:ext cx="28575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9C3FE-7ED3-493D-817C-A04EAD1C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23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672"/>
                </a:solidFill>
              </a:defRPr>
            </a:pPr>
            <a:r>
              <a:rPr sz="900" b="1">
                <a:solidFill>
                  <a:srgbClr val="5B6672"/>
                </a:solidFill>
              </a:rPr>
              <a:t>SESSION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50D24-00AF-4A0B-9801-B2293B7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진단 반복이 아니라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실행 범위를 결정하는 회차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9672C-8C8E-4B8F-8246-A2181AD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72C16-E6AD-4FF9-B40E-4A91C6D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MVP 범위 확정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D411C-2DFC-4908-9076-726DADE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47797-DBC6-49B9-BF2E-1D65371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052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역할별 KPI 정의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135DE-7898-4027-8296-3EBE5F56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215C1-6220-4D78-95F2-38F49207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671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데이터 기준 컬럼 합의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D3207-B0DA-499E-9736-42BE219E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D94C8-93B4-4D04-8E0D-E9DBCF4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PoC 일정과 담당 정리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1001A-90DE-49DA-9CCE-42C0A0B8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672"/>
                </a:solidFill>
              </a:defRPr>
            </a:pPr>
            <a:r>
              <a:rPr sz="1125">
                <a:solidFill>
                  <a:srgbClr val="5B6672"/>
                </a:solidFill>
              </a:rPr>
              <a:t>2026.08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FA34A-3244-41A4-A4E8-CE582502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96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B6672"/>
                </a:solidFill>
              </a:defRPr>
            </a:pPr>
            <a:r>
              <a:rPr sz="1125">
                <a:solidFill>
                  <a:srgbClr val="5B6672"/>
                </a:solidFill>
              </a:rPr>
              <a:t>(주)에스엔디 x AI 현장혁신 PoC</a:t>
            </a:r>
          </a:p>
        </p:txBody>
      </p:sp>
    </p:spTree>
    <p:extLst>
      <p:ext uri="{BB962C8B-B14F-4D97-AF65-F5344CB8AC3E}">
        <p14:creationId xmlns:p14="http://schemas.microsoft.com/office/powerpoint/2010/main" val="661114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5A123-0C89-4D45-858F-EB7480C2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SND는 이제 '무엇을 자동화할지'보다 '어디부터 연결할지'를 정해야 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5AE65-BFB5-416B-8FE8-A1B05CE0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8E97E-CECF-47C4-A6CC-E78BBE5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6672"/>
                </a:solidFill>
              </a:defRPr>
            </a:pPr>
            <a:r>
              <a:rPr sz="1425" b="1">
                <a:solidFill>
                  <a:srgbClr val="5B6672"/>
                </a:solidFill>
              </a:rPr>
              <a:t>회사/공정 맥락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9B28C-7EB5-470D-BB58-AF7E417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71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항공·방산 부품 가공과 치공구 제작</a:t>
            </a:r>
          </a:p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주요 공정: MCT / Router / Forming / Deburring / 검사</a:t>
            </a:r>
          </a:p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2026년 MES 구축 예정, 현장 데이터는 아직 수기·엑셀 의존 구간 존재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B12F1-7A6B-4FB9-B2E6-787E296C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6672"/>
                </a:solidFill>
              </a:defRPr>
            </a:pPr>
            <a:r>
              <a:rPr sz="1425" b="1">
                <a:solidFill>
                  <a:srgbClr val="5B6672"/>
                </a:solidFill>
              </a:rPr>
              <a:t>이번 회차에서 확인할 핵심 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E547F-EAEB-46DF-AEFD-C8BC43B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5E53C-8D2D-413E-9335-A4C379B2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생산실적 취합과 보고가 반복 업무로 남아 있음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D3678-1178-4914-ACC3-4F8B63A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B3A1D-DEEC-401D-AC1E-65650FC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공정 지연과 병목을 한 화면에서 보기 어려움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203C9-331C-47FC-90E0-5276481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574F9-C931-4FE3-8190-30DBCFE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불량·재검·품질문서 이력이 작업번호 기준으로 이어지지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D80D6-78BD-4514-AC68-A044582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33550"/>
            <a:ext cx="4953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BCA82-FAAA-421B-8C7F-7858E762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1981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C2225-00B1-43B6-903E-825610F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관리팀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C999F-D936-4868-B7D5-A8C44E4C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42A"/>
                </a:solidFill>
              </a:defRPr>
            </a:pPr>
            <a:r>
              <a:rPr sz="1275">
                <a:solidFill>
                  <a:srgbClr val="20242A"/>
                </a:solidFill>
              </a:rPr>
              <a:t>실적 취합·KPI 산출·경영보고 작성시간 과다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4519B-8DDA-43D9-92AC-C579D746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1981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438B3-3524-4648-AC56-57E4BF86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90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생산팀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7B9D8-CD28-4A54-B73B-7A5A7F7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336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42A"/>
                </a:solidFill>
              </a:defRPr>
            </a:pPr>
            <a:r>
              <a:rPr sz="1275">
                <a:solidFill>
                  <a:srgbClr val="20242A"/>
                </a:solidFill>
              </a:rPr>
              <a:t>작업진행·지연·설비정지를 즉시 보기 어려움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36F56-7CC9-4035-9C43-FDF32789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1981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E3938-AE77-4F3D-80FC-FD0BB78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품질팀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0806B-30A0-4132-850C-D46C819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42A"/>
                </a:solidFill>
              </a:defRPr>
            </a:pPr>
            <a:r>
              <a:rPr sz="1275">
                <a:solidFill>
                  <a:srgbClr val="20242A"/>
                </a:solidFill>
              </a:rPr>
              <a:t>검사·불량·재검 데이터가 분산되어 패턴 분석 지연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F6B5D-0410-455F-9FDB-B9D53853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14750"/>
            <a:ext cx="1981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DA467-73A0-4DC1-B433-C1DD43B3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886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공통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DAE89-0A07-40D6-A4C7-1AE245C7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2910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42A"/>
                </a:solidFill>
              </a:defRPr>
            </a:pPr>
            <a:r>
              <a:rPr sz="1275">
                <a:solidFill>
                  <a:srgbClr val="20242A"/>
                </a:solidFill>
              </a:rPr>
              <a:t>MES, 문서, 사진, 이력정보를 같은 번호로 엮어야 함</a:t>
            </a:r>
          </a:p>
        </p:txBody>
      </p:sp>
    </p:spTree>
    <p:extLst>
      <p:ext uri="{BB962C8B-B14F-4D97-AF65-F5344CB8AC3E}">
        <p14:creationId xmlns:p14="http://schemas.microsoft.com/office/powerpoint/2010/main" val="1764045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B4195-FA37-4A1F-B678-51DC53F7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2회차에서 합의할 MVP는 세 갈래면 충분합니다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331AA-9EAE-494B-B665-F2E2C73A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672"/>
                </a:solidFill>
              </a:defRPr>
            </a:pPr>
            <a:r>
              <a:rPr sz="1425">
                <a:solidFill>
                  <a:srgbClr val="5B6672"/>
                </a:solidFill>
              </a:rPr>
              <a:t>처음부터 전사 통합이 아니라 실적·공정·품질의 연결부터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CBF1-2914-4306-8C67-EA87E90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BDCF0-E515-4EB1-ACEA-DC54358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048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49799-8D73-46E7-94E7-19153869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672"/>
                </a:solidFill>
              </a:defRPr>
            </a:pPr>
            <a:r>
              <a:rPr sz="975" b="1">
                <a:solidFill>
                  <a:srgbClr val="5B6672"/>
                </a:solidFill>
              </a:rPr>
              <a:t>TRACK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EBD97-EF8B-42C2-9823-B1C26CE5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생산실적 자동집계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4E7E0-76F3-4299-94A5-1EA9A744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58E67-9732-44E9-90E6-7730A79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일/주/월 실적 자동 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46A04-91E0-4654-B3D5-14F0201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02422-57C9-40EF-91D3-9D75CE59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생산계획 대비 완료율 계산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E9BAE-7B0D-46A3-87B4-C3ED140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A75AC-73F9-436A-B0FF-16489EB7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경영보고용 요약 표 자동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97062-74A0-4AC4-A00D-54C2EECB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3048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5F573-6D8D-449A-9E84-2C40787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672"/>
                </a:solidFill>
              </a:defRPr>
            </a:pPr>
            <a:r>
              <a:rPr sz="975" b="1">
                <a:solidFill>
                  <a:srgbClr val="5B6672"/>
                </a:solidFill>
              </a:rPr>
              <a:t>TRACK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B0A03-5202-4ED2-903B-0114C673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공정 진행 / 병목 모니터링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4E225-CC05-4CEF-B3A4-C1FB852B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01A68-16F9-4702-A07B-805A9F8B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MCT·Router 작업현황 한눈에 조회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2DCC5-7E17-4BA5-BC6D-5C59F2C0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90996-2350-47AF-97F4-AFE37CFA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지연 작업과 설비 정지 이력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039C1-B1A7-431E-A223-3512017E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87DCE-4A8A-4E5C-9EBC-7397F90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계획 대비 실제 작업시간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0160D-8003-46DE-9EC9-9DE1031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43100"/>
            <a:ext cx="3048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4E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6B656-2FCE-4662-995C-344F611E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672"/>
                </a:solidFill>
              </a:defRPr>
            </a:pPr>
            <a:r>
              <a:rPr sz="975" b="1">
                <a:solidFill>
                  <a:srgbClr val="5B6672"/>
                </a:solidFill>
              </a:rPr>
              <a:t>TRACK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8A743-D0E1-4118-8AAD-3B27E42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품질 / 불량 분석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DFD47-384D-4C0B-ACD7-0BF43771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FA345-1FD3-48B6-B325-828FC856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불량유형 TOP과 공정별 불량률 집계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A1B29-9B35-4733-9511-908C8DAF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52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82B1A-6E4E-4DCD-82F9-65971A74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재검 이력 연결과 반복불량 파악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84E09-6B9B-45FE-BAA4-17C5F2C9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52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265C8-90AC-4D64-A8AD-CA1B796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338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FAI·검사성적서 검색 시간 단축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3ACE6-7B7E-4A6C-B063-A2E0ECCB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세 트랙 모두 공통키는 '작업번호 / 품목번호'입니다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2A834-3AC0-4BA1-AAA4-8E77B4F0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이 키가 잡혀야 실적, 공정, 검사, 문서, 사진을 하나의 이력으로 연결할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19728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D0D701-9922-4C1D-882C-15FB263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데이터는 복잡하게 모으기보다 '작업번호 중심 한 줄 이력'으로 시작하는 편이 빠릅니다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8321B-A18E-438B-B2FE-9C5AE40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F68D-4309-4A75-82EB-013B90F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524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F051E-A3C2-4F6C-AE26-6C5CC2E0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작업지시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41E07-E2C7-48CE-A2D5-2AC9BB2C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작업번호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품목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고객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계획일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AA47D-C262-43E4-A2E1-7BE5DBC6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0995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3633B-2EC5-40A2-BE27-6CE3073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57450"/>
            <a:ext cx="1524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3B485-166D-485F-8797-C8FF558A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생산실적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F365B-57D0-4296-938A-8A68A00B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공정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설비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작업시간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생산수량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CEBC5-93E8-4CFC-BE31-0493772A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2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D1AD4-4E66-435F-8FD4-0BF6B19A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1524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C18B7-AD35-4F95-9306-4E1FC76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품질이력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12E96-A150-4FEA-B58B-E784866B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040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검사결과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불량유형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재검여부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승인상태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EA33F-83CC-4A72-8B67-CCBCA31C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E6DCC-D0F0-4FB0-AF33-ED2CBA49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524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4AAE8-C625-4F3D-823B-533DB0B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자료실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64D5F-797C-4907-9712-16499457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도면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FAI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검사성적서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현장사진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F5F5E-DFCC-4216-98CB-EC0A9967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4A7D3-3531-4443-AE1C-14BF4AC7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1524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29D58-3A44-460A-9073-5877F86A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통합화면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72C4D-5A74-443D-A64B-091E36F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KPI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이상알림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원인조회</a:t>
            </a:r>
          </a:p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보고요약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16BBC-92FA-4997-9EA6-9B3E18B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6672"/>
                </a:solidFill>
              </a:defRPr>
            </a:pPr>
            <a:r>
              <a:rPr sz="1425" b="1">
                <a:solidFill>
                  <a:srgbClr val="5B6672"/>
                </a:solidFill>
              </a:rPr>
              <a:t>최소 공통 컬럼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169CF-38EF-4B21-B207-9DA4208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CB7D6-0FA4-44D6-A2FC-3EA68D17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작업번호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F25F8-365F-4A17-AC66-195CD34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3870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7E638-350E-4093-935E-24AF6435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품목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79593-5BDF-4963-B2DD-EB4DED53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3870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6A4A5-DE4C-4C40-83C0-126EE11F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공정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A51466-F730-4E4D-9D3B-8491CF0A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3C75AD-FAD7-4F1A-9E9A-BE4501DD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95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설비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8B95E-D016-472B-85EF-316DCBB8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3870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6C5203-F18F-45BF-912B-DE40768B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작업자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D8363C-EEBE-4D53-AFF0-4897803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95596D-D153-40D5-9F48-868C2078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수량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F5C046-928E-4837-BF1A-F8BAB665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300A84-350B-460B-8120-36002E64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95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검사결과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FEE429-45E1-4D3B-BD1D-72B6C2D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BA2E71-2EA8-4FF0-857D-4930845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불량유형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85A6FC-8CE1-49B7-913D-906D1073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387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E3477-CB8D-4A02-98CA-8531F77F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95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42A"/>
                </a:solidFill>
              </a:defRPr>
            </a:pPr>
            <a:r>
              <a:rPr sz="1125" b="1">
                <a:solidFill>
                  <a:srgbClr val="20242A"/>
                </a:solidFill>
              </a:rPr>
              <a:t>등록일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26BBAA-4250-476A-B410-D50BF43D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42A"/>
                </a:solidFill>
              </a:defRPr>
            </a:pPr>
            <a:r>
              <a:rPr sz="1425">
                <a:solidFill>
                  <a:srgbClr val="20242A"/>
                </a:solidFill>
              </a:rPr>
              <a:t>이 구조면 추후 AI 요약이나 원인분석도 같은 테이블을 기반으로 확장할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99420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A26D9A-4E15-454A-AB16-15D1241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Dashboard는 역할마다 질문이 달라야 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51F35-89C8-4EFE-8087-26553533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672"/>
                </a:solidFill>
              </a:defRPr>
            </a:pPr>
            <a:r>
              <a:rPr sz="1425">
                <a:solidFill>
                  <a:srgbClr val="5B6672"/>
                </a:solidFill>
              </a:rPr>
              <a:t>경영자는 요약, 실무자는 상세, 품질은 원인과 이력까지 내려가도록 구성합니다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81A8D-1116-4CE9-BB45-E59567C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B419-9F67-436C-A4CE-5542905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200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922B6-E060-4568-8EBE-84E02B7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경영자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53B05-4B8B-4DFD-B528-747C5E10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한 페이지 KPI 요약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F9B83-79BB-4F9D-95B1-D42C4619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CC68E-191F-499B-9988-A7A5F86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생산완료율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EDB8E-DE72-4B59-8175-D6714BC0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64A40-3A4D-477F-A3E5-8A4BD4F2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납기준수율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FE9B0-E385-4980-881A-9DCD8E74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318BC-74A9-4472-8E0D-9884EC5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불량률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829F1-D696-4C41-921D-560DAD48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05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5D44E-ECCD-4DC1-A1CF-DCB8A64C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설비가동률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CDA7D-96BF-442A-985C-4C9F53C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C1BB4-FBC8-4A10-86A1-9A16F005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337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위험 알림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9D3B7-40B6-438C-9A29-24E5618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5200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859EE-C23C-4B0F-8387-60FB42F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관리팀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67A91-DFAE-48FE-A1D3-10845A75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계획 대비 실적과 보고 자동화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DF6CE-E179-46E8-9DA5-090CFEBB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1CB96-BC39-4E20-8A78-F132DA35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고객/품목별 납기위험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CE944-B2A2-4678-8EB1-85F61544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5995A-D18C-4532-AC58-DD40421D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일·주·월 실적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07AE0-1F89-4C86-89F3-5F02B80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B3191-8B27-4D87-8FBB-83D0AB3D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부서별 진행률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5C752-F5CE-4097-84DA-B79F7203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05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15F46-8E9C-4F61-9C05-98E9BBBC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보고서 초안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EF88F-A379-4C2C-B17A-67A4552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00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CEE2E4-B790-40A4-8654-CD0BA326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생산팀 화면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F54A01-A3AC-4478-B4CB-B1303A0E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MCT·Router·공정 진행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8777B-5C4B-48D7-A0B6-A8EA7588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566F8-0E53-46A5-9C04-0CF08D6A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작업현황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CE6EE9-67B2-432C-9FA5-DC04D884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4FC6F7-2B97-48CB-962B-89682D25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지연작업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493526-859C-44AA-89D9-BE63BFAE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290F3F-564D-4A8D-B212-187A66B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설비정지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5B621A-7ED5-4D44-8C12-2D29F2C9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434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851848-ECDA-4BAD-825B-727987D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244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병목공정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95FA6C-AF00-4FA1-A3A7-3326B30E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91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584BE0-6613-46D5-9A7D-E6A28D45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72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계획 vs 실제 시간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235F16-8B99-452D-8199-4FF726CF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5200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4E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E7C778-EFCD-46EE-8EB0-577A2D8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품질팀 화면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335F57-C6DF-4643-920F-4BCCFCD8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불량·재검·문서 이력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BB870B-36A6-46C1-8234-A49B0DD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434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4A1BBD-B8F4-406E-B2ED-82BE85AC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검사건수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9B165A-FEA8-4DDA-9DFD-6102719E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6BF238-8326-4044-BC70-CA70B10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불량유형 TOP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B828EA-B9F1-45B1-B475-56A0E071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38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C8B009-8FDE-4BD9-B450-BFAF76ED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재검현황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B13F4F-A119-4814-8F66-723149CE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434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0A38FF-19E6-4658-8F05-40A88CC8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244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공정별 불량률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39FF9-E056-4C21-A003-2C8BF129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911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E8DA06-0912-4D83-BC4C-F1BCF02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72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42A"/>
                </a:solidFill>
              </a:defRPr>
            </a:pPr>
            <a:r>
              <a:rPr sz="1200">
                <a:solidFill>
                  <a:srgbClr val="20242A"/>
                </a:solidFill>
              </a:rPr>
              <a:t>FAI 진행현황</a:t>
            </a:r>
          </a:p>
        </p:txBody>
      </p:sp>
    </p:spTree>
    <p:extLst>
      <p:ext uri="{BB962C8B-B14F-4D97-AF65-F5344CB8AC3E}">
        <p14:creationId xmlns:p14="http://schemas.microsoft.com/office/powerpoint/2010/main" val="446386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B683CF-E90C-4707-AD2B-6870CDB2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Prototype KPI 화면은 숫자·위험신호·추세를 함께 보여줘야 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1E2DE-0C12-45DA-86E5-9C7EA8B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65C5C"/>
                </a:solidFill>
              </a:defRPr>
            </a:pPr>
            <a:r>
              <a:rPr sz="1125">
                <a:solidFill>
                  <a:srgbClr val="D65C5C"/>
                </a:solidFill>
              </a:rPr>
              <a:t>아래 수치는 실제 연동 전 레이아웃 검토용 예시입니다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D32AF-0A5F-46D8-A80F-F94D620A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1ACC9-8379-4336-A840-CEAC442F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905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63223-71A4-46CA-8553-675EF39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생산완료율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12864-73CF-4F57-BDD6-E05AD601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4BBB3-8E41-4E2F-A840-F133D49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42A"/>
                </a:solidFill>
              </a:defRPr>
            </a:pPr>
            <a:r>
              <a:rPr sz="1050">
                <a:solidFill>
                  <a:srgbClr val="20242A"/>
                </a:solidFill>
              </a:rPr>
              <a:t>Target 95%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05189-FC7B-45EC-B65A-3ACCB2B6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52600"/>
            <a:ext cx="1905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D568D-17C4-4F09-9880-CD4626FF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05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납기준수율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4E2F3-8E2E-4C62-94C0-AF798BE7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89%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429CD-3DDD-4D17-8837-62D82A0E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42A"/>
                </a:solidFill>
              </a:defRPr>
            </a:pPr>
            <a:r>
              <a:rPr sz="1050">
                <a:solidFill>
                  <a:srgbClr val="20242A"/>
                </a:solidFill>
              </a:rPr>
              <a:t>위험 3건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28544-6332-4C0E-877A-B5C9B144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52600"/>
            <a:ext cx="1905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2C940-4065-4F9B-AD12-89E9BD03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설비가동률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E3D3A-7058-4C73-9E72-C6D4A41A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84%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21CC9-3624-4793-83CE-38C6FF0A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95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42A"/>
                </a:solidFill>
              </a:defRPr>
            </a:pPr>
            <a:r>
              <a:rPr sz="1050">
                <a:solidFill>
                  <a:srgbClr val="20242A"/>
                </a:solidFill>
              </a:rPr>
              <a:t>Router 2 집중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9A263-611F-4FCE-97F9-E8E03D7D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1905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4E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8B4DA-C5E8-49A7-9873-A96C5ECD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05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불량률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0CA9B-977B-4F3C-8C14-B2F26092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2.8%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FD41D-5A3D-4979-873D-2FDE6C2C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42A"/>
                </a:solidFill>
              </a:defRPr>
            </a:pPr>
            <a:r>
              <a:rPr sz="1050">
                <a:solidFill>
                  <a:srgbClr val="20242A"/>
                </a:solidFill>
              </a:rPr>
              <a:t>재검 5건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685800" y="3162300"/>
          <a:ext xmlns:a="http://schemas.openxmlformats.org/drawingml/2006/main" cx="5905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b6dd57ad4442e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777BF-F9EF-4354-B0B4-B91353CF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62300"/>
            <a:ext cx="3790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D5EE8-171D-4A95-93DA-11B948F2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이번 주 이상 징후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67651-8498-44C5-BE24-E96FF340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719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57808-DC7A-463E-BFE8-315CFCD2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67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납기 위험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E3CF2-1E50-43BA-9A5F-E5B3F958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5C5C"/>
                </a:solidFill>
              </a:defRPr>
            </a:pPr>
            <a:r>
              <a:rPr sz="1350" b="1">
                <a:solidFill>
                  <a:srgbClr val="D65C5C"/>
                </a:solidFill>
              </a:rPr>
              <a:t>3건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E02A1-9A25-4934-ABEB-F0B1750C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47728-210E-4991-8785-8E9E7332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6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병목 공정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FE9A2-1AF2-4FCB-B6FC-543C7D3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A93A"/>
                </a:solidFill>
              </a:defRPr>
            </a:pPr>
            <a:r>
              <a:rPr sz="1350" b="1">
                <a:solidFill>
                  <a:srgbClr val="E7A93A"/>
                </a:solidFill>
              </a:rPr>
              <a:t>Router 가공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7DFDF-C872-457D-9AA5-5431E29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200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8E975-B66A-4669-9D97-0B61FD2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67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반복 불량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D7874A-6753-43C9-973C-3F690D34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48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5C5C"/>
                </a:solidFill>
              </a:defRPr>
            </a:pPr>
            <a:r>
              <a:rPr sz="1350" b="1">
                <a:solidFill>
                  <a:srgbClr val="D65C5C"/>
                </a:solidFill>
              </a:rPr>
              <a:t>치수 편차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F2D40D-028B-43D7-A082-287B017B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720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9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EB3ED-A732-4B57-8873-8A0C1082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67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2"/>
                </a:solidFill>
              </a:defRPr>
            </a:pPr>
            <a:r>
              <a:rPr sz="1200">
                <a:solidFill>
                  <a:srgbClr val="5B6672"/>
                </a:solidFill>
              </a:rPr>
              <a:t>우선 조치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7541CB-DFA8-43BB-88EC-2977C5D6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9D68"/>
                </a:solidFill>
              </a:defRPr>
            </a:pPr>
            <a:r>
              <a:rPr sz="1350" b="1">
                <a:solidFill>
                  <a:srgbClr val="1F9D68"/>
                </a:solidFill>
              </a:rPr>
              <a:t>재배치 권고</a:t>
            </a:r>
          </a:p>
        </p:txBody>
      </p:sp>
    </p:spTree>
    <p:extLst>
      <p:ext uri="{BB962C8B-B14F-4D97-AF65-F5344CB8AC3E}">
        <p14:creationId xmlns:p14="http://schemas.microsoft.com/office/powerpoint/2010/main" val="223462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820889-8405-4D0A-B3BD-C032280D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PoC는 4단계로 끊어야 검증과 투자판단이 쉬워집니다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4BB12-17C0-4209-8DC9-ABE8EB8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672"/>
                </a:solidFill>
              </a:defRPr>
            </a:pPr>
            <a:r>
              <a:rPr sz="1350">
                <a:solidFill>
                  <a:srgbClr val="5B6672"/>
                </a:solidFill>
              </a:rPr>
              <a:t>실행 순서는 데이터 정리 → 화면 구성 → 자동화 → AI 보조기능 순서가 적절합니다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C7390-29CD-41CD-9CBC-A3A7ECAD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A66B0-9942-4551-BBDA-907D262B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24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2AB38-9E85-4163-B763-31BBC274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1. 데이터 정리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5DA1F-7015-4F7A-9F04-A60E7D7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2"/>
                </a:solidFill>
              </a:defRPr>
            </a:pPr>
            <a:r>
              <a:rPr sz="1125" b="1">
                <a:solidFill>
                  <a:srgbClr val="5B6672"/>
                </a:solidFill>
              </a:rPr>
              <a:t>Week 1-2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F33E3-EAE6-4FB4-9A74-128BD9FB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91E35-663A-4892-B88B-0A407B05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기초 컬럼 확정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0679-6B35-402E-847F-AD02630E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D643C-446A-4A83-9A9C-888376D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작업번호 기준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3D1D2-8B2A-473F-935E-4EA8BAA5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550FC-B338-48F1-9F32-7AC8FAA1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누가 입력/검토할지 지정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2F22B-C5EC-4833-A8BA-6FE4B3D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324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6AC4F-5FEF-447D-8A5D-0C18FC0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2. Dashboard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D0981-04A8-4C5F-B273-FAD2024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2"/>
                </a:solidFill>
              </a:defRPr>
            </a:pPr>
            <a:r>
              <a:rPr sz="1125" b="1">
                <a:solidFill>
                  <a:srgbClr val="5B6672"/>
                </a:solidFill>
              </a:rPr>
              <a:t>Week 3-5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AAEF7-A2EC-4762-BE69-9852280D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2A182-66F7-478E-B7D6-A3344FB4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경영/관리/생산/품질 화면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79301-2839-49FC-BC36-45662B6B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9BBC9-4C29-4135-8180-CD4E1A4B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실적 자동집계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21C62-C952-4B4F-AC53-BEA30ADF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67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000C8-CB44-421D-AA27-BD090B00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지연/불량 Drill-down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8E36C-45E3-46F2-BF52-F61B1FB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2324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0A736-E4BE-4418-B93B-269A83F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3. 보고 자동화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C5381-80E4-442A-99BA-D5B5DDD6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2"/>
                </a:solidFill>
              </a:defRPr>
            </a:pPr>
            <a:r>
              <a:rPr sz="1125" b="1">
                <a:solidFill>
                  <a:srgbClr val="5B6672"/>
                </a:solidFill>
              </a:rPr>
              <a:t>Week 6-8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05592-5AD4-491F-96F8-6D524E3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38DC1-38BF-49B5-9C07-B26AEDA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일·주간 보고 초안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57083-DE32-4DAF-B719-BA0E084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F622D-957D-4C3F-8F08-190E9AF5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경영요약 문안 자동생성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47DDB-FDBC-4F9F-B1A1-B83F6E38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6B6E45-DED9-427A-ABD4-90604B59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품질요약 템플릿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D72451-4439-42A4-87EE-E96412A5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2324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4E8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D7F00B-24F0-41D5-A814-B19BF711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09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4. AI 보조기능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EED7B1-45D3-4C47-9734-A1B55D28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2"/>
                </a:solidFill>
              </a:defRPr>
            </a:pPr>
            <a:r>
              <a:rPr sz="1125" b="1">
                <a:solidFill>
                  <a:srgbClr val="5B6672"/>
                </a:solidFill>
              </a:rPr>
              <a:t>Week 9-10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0983AB-55CC-4821-B3EF-8ADB04C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C636B-F6A2-4B19-BD61-8C6CA456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KPI 변동원인 요약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397544-6078-4F13-B6F6-7AEA7FD2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05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952758-4109-4434-A3CF-CB64C7A6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반복불량 탐색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2FD51D-DA89-4908-8574-69FB59D7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67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AEE678-C2EF-4BC5-BACA-93D3E26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지연작업 설명 보조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12E46F-B95F-4420-95E0-A5C3A34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72100"/>
            <a:ext cx="777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6618FD-9156-46EF-B142-298EF49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42A"/>
                </a:solidFill>
              </a:defRPr>
            </a:pPr>
            <a:r>
              <a:rPr sz="1350">
                <a:solidFill>
                  <a:srgbClr val="20242A"/>
                </a:solidFill>
              </a:rPr>
              <a:t>10주 안에 '보는 화면'과 '자동 집계되는 흐름'까지 검증하면 성공적인 1차 PoC로 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5379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1544EF-18AA-4BBA-A188-B4F85BEE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오늘 최종적으로 정리해야 할 것은 기능보다 운영 방식입니다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982FB-7DCA-4389-9142-B7FB36F1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672"/>
                </a:solidFill>
              </a:defRPr>
            </a:pPr>
            <a:r>
              <a:rPr sz="1425">
                <a:solidFill>
                  <a:srgbClr val="5B6672"/>
                </a:solidFill>
              </a:rPr>
              <a:t>이 세 가지만 확정되면 이후 구축과 테스트가 훨씬 빨라집니다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6AE87-6E51-417C-861A-DF0B2D4C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78EFE-3A15-4A3A-8457-985B2554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648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14755-A8D0-4D83-92A6-E36B7E38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1.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6A0DD-E540-4197-9CCA-824E4A4F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98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42A"/>
                </a:solidFill>
              </a:defRPr>
            </a:pPr>
            <a:r>
              <a:rPr sz="1500">
                <a:solidFill>
                  <a:srgbClr val="20242A"/>
                </a:solidFill>
              </a:rPr>
              <a:t>첫 MVP에 넣을 데이터와 화면을 어디까지 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A8D9A-A652-406C-A380-894B7F7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648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0097C-9ED0-41C9-B3D8-0D9529F5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2. 책임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45DF2-CA25-41E6-A9A4-5B8EAF2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29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42A"/>
                </a:solidFill>
              </a:defRPr>
            </a:pPr>
            <a:r>
              <a:rPr sz="1500">
                <a:solidFill>
                  <a:srgbClr val="20242A"/>
                </a:solidFill>
              </a:rPr>
              <a:t>누가 입력하고 누가 검토·승인할지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CBDD5-0B03-40E2-BCCB-8B165DE4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648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A1447-A126-47C0-94D5-CFE34A91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3.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BB5B5-D36A-4E7A-A4B1-D03DA578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42A"/>
                </a:solidFill>
              </a:defRPr>
            </a:pPr>
            <a:r>
              <a:rPr sz="1500">
                <a:solidFill>
                  <a:srgbClr val="20242A"/>
                </a:solidFill>
              </a:rPr>
              <a:t>매일 볼 KPI와 이상 판단 기준을 무엇으로 둘지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D36C7-8B20-4A99-9110-FCDE9919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B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36163-70F7-46CE-9245-E83E35E7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권장 즉시 액션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CCBB9-0A8A-4417-8FAD-AEA531DC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80C8D-5CD2-43CA-A69D-4058E52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작업번호 기준 샘플 데이터 2~4주치 확보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6BFC3-655F-4AD3-B6F9-B4C1AD37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15631-C282-4544-AA6A-0CC60BE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관리팀/생산팀/품질팀 담당자 1명씩 지정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E2205-FA8B-47D5-9AED-3838C9D2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3C48B-9B60-498B-AF20-56287FBA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일일 KPI와 주간 보고 항목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4EA66-D932-4C76-967E-7883559E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53939-8DF9-4D3B-8BCC-768114E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624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문서·사진 파일명 규칙 통일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D25C4-7FD8-40FF-933F-0F0D8F34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10890-403B-4C04-BC52-B46604F3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Dashboard MVP 화면 검토 후 자동화 우선순위 확정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D268D-169C-4CF8-9911-91F6A43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672"/>
                </a:solidFill>
              </a:defRPr>
            </a:pPr>
            <a:r>
              <a:rPr sz="900" b="1">
                <a:solidFill>
                  <a:srgbClr val="5B6672"/>
                </a:solidFill>
              </a:rPr>
              <a:t>Closing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81C6C-AB74-4478-9896-49270885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42A"/>
                </a:solidFill>
              </a:defRPr>
            </a:pPr>
            <a:r>
              <a:rPr sz="1275">
                <a:solidFill>
                  <a:srgbClr val="20242A"/>
                </a:solidFill>
              </a:rPr>
              <a:t>SND가 바로 시작할 수 있는 수준의 실행안으로 좁히는 것이 2회차의 목적입니다.</a:t>
            </a:r>
          </a:p>
        </p:txBody>
      </p:sp>
    </p:spTree>
    <p:extLst>
      <p:ext uri="{BB962C8B-B14F-4D97-AF65-F5344CB8AC3E}">
        <p14:creationId xmlns:p14="http://schemas.microsoft.com/office/powerpoint/2010/main" val="1098944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2026-08-24T08:40:05.7580000Z</dcterms:created>
  <dcterms:modified xsi:type="dcterms:W3CDTF">2026-08-24T08:40:05.7580000Z</dcterms:modified>
</coreProperties>
</file>
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 w="12700">
            <a:solidFill>
              <a:srgbClr val="F8FAF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1D76B5"/>
          </a:solidFill>
          <a:ln w="12700">
            <a:solidFill>
              <a:srgbClr val="1D76B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88720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D76B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AI훈련로드맵 후속 PoC 요약 계획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685800" y="173736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365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(주)에스엔디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85800" y="24231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현장업무 자동화 · 통합 Dashboard · Data Room 구축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85800" y="2953512"/>
            <a:ext cx="4754880" cy="0"/>
          </a:xfrm>
          <a:prstGeom prst="line">
            <a:avLst/>
          </a:prstGeom>
          <a:noFill/>
          <a:ln w="38100">
            <a:solidFill>
              <a:srgbClr val="1D76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425196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초기 PoC: 생산실적 자동집계 + MCT·Router 공정관리 + 품질·불량 분석 + 통합 Dashboard</a:t>
            </a:r>
            <a:endParaRPr lang="en-US" sz="1400" dirty="0"/>
          </a:p>
        </p:txBody>
      </p:sp>
      <p:pic>
        <p:nvPicPr>
          <p:cNvPr id="9" name="Image 0" descr="/mnt/data/snd_render/page-1.png">    </p:cNvPr>
          <p:cNvPicPr>
            <a:picLocks noChangeAspect="1"/>
          </p:cNvPicPr>
          <p:nvPr/>
        </p:nvPicPr>
        <p:blipFill>
          <a:blip r:embed="rId1"/>
          <a:srcRect l="746" r="746" t="0" b="0"/>
          <a:stretch/>
        </p:blipFill>
        <p:spPr>
          <a:xfrm>
            <a:off x="8732520" y="960120"/>
            <a:ext cx="2331720" cy="30632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85800" y="507492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8952" y="5175504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S&amp;D Space &amp; Defence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063240" y="507492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136392" y="5175504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MES 연계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572000" y="507492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45152" y="5175504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분석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943600" y="507492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1D76B5"/>
          </a:solidFill>
          <a:ln w="12700">
            <a:solidFill>
              <a:srgbClr val="1D76B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16752" y="5175504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Data Room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85800" y="617220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62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2026.08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76B5"/>
          </a:solidFill>
          <a:ln w="12700">
            <a:solidFill>
              <a:srgbClr val="1D76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65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추진 배경과 구축 방향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27080" y="29260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D76B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6455664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62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(주)에스엔디 | 현장업무 자동화·통합 Dashboard·Data Room 구축 요약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48640" y="987552"/>
            <a:ext cx="365760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987552"/>
            <a:ext cx="82296" cy="2057400"/>
          </a:xfrm>
          <a:prstGeom prst="rect">
            <a:avLst/>
          </a:prstGeom>
          <a:solidFill>
            <a:srgbClr val="1D76B5"/>
          </a:solidFill>
          <a:ln w="12700">
            <a:solidFill>
              <a:srgbClr val="1D76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15214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65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지금 필요한가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49808" y="1517904"/>
            <a:ext cx="329184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04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생산실적, 공정진행, 설비이력, 검사·불량 데이터가 지속 증가</a:t>
            </a:r>
            <a:endParaRPr lang="en-US" sz="1040" dirty="0"/>
          </a:p>
          <a:p>
            <a:r>
              <a:rPr lang="en-US" sz="104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Excel 및 수작업 중심 취합으로 보고 지연과 누락 위험 발생</a:t>
            </a:r>
            <a:endParaRPr lang="en-US" sz="1040" dirty="0"/>
          </a:p>
          <a:p>
            <a:r>
              <a:rPr lang="en-US" sz="104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MES 구축 이후 데이터를 현장개선과 의사결정에 연결할 필요</a:t>
            </a:r>
            <a:endParaRPr lang="en-US" sz="1040" dirty="0"/>
          </a:p>
        </p:txBody>
      </p:sp>
      <p:sp>
        <p:nvSpPr>
          <p:cNvPr id="11" name="Shape 9"/>
          <p:cNvSpPr/>
          <p:nvPr/>
        </p:nvSpPr>
        <p:spPr>
          <a:xfrm>
            <a:off x="548640" y="3310128"/>
            <a:ext cx="365760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310128"/>
            <a:ext cx="82296" cy="205740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4747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65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전환 방향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49808" y="3840480"/>
            <a:ext cx="329184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04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분산 자료를 작업번호·품목번호 중심으로 연결</a:t>
            </a:r>
            <a:endParaRPr lang="en-US" sz="1040" dirty="0"/>
          </a:p>
          <a:p>
            <a:r>
              <a:rPr lang="en-US" sz="104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관리·생산·품질 데이터를 통합 Dashboard에서 확인</a:t>
            </a:r>
            <a:endParaRPr lang="en-US" sz="1040" dirty="0"/>
          </a:p>
          <a:p>
            <a:r>
              <a:rPr lang="en-US" sz="104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생성형 AI와 No-code로 반복 보고·분석 업무 자동화</a:t>
            </a:r>
            <a:endParaRPr lang="en-US" sz="1040" dirty="0"/>
          </a:p>
        </p:txBody>
      </p:sp>
      <p:pic>
        <p:nvPicPr>
          <p:cNvPr id="15" name="Image 0" descr="/mnt/data/snd_render/page-2.png">    </p:cNvPr>
          <p:cNvPicPr>
            <a:picLocks noChangeAspect="1"/>
          </p:cNvPicPr>
          <p:nvPr/>
        </p:nvPicPr>
        <p:blipFill>
          <a:blip r:embed="rId1"/>
          <a:srcRect l="9882" r="9882" t="0" b="0"/>
          <a:stretch/>
        </p:blipFill>
        <p:spPr>
          <a:xfrm>
            <a:off x="4617720" y="960120"/>
            <a:ext cx="2834640" cy="457200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8001000" y="2029968"/>
            <a:ext cx="1005840" cy="713232"/>
          </a:xfrm>
          <a:prstGeom prst="roundRect">
            <a:avLst>
              <a:gd name="adj" fmla="val 6410"/>
            </a:avLst>
          </a:prstGeom>
          <a:solidFill>
            <a:srgbClr val="596273"/>
          </a:solidFill>
          <a:ln w="12700">
            <a:solidFill>
              <a:srgbClr val="59627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046720" y="22677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현장 데이터</a:t>
            </a:r>
            <a:endParaRPr lang="en-US" sz="920" dirty="0"/>
          </a:p>
        </p:txBody>
      </p:sp>
      <p:sp>
        <p:nvSpPr>
          <p:cNvPr id="18" name="Shape 15"/>
          <p:cNvSpPr/>
          <p:nvPr/>
        </p:nvSpPr>
        <p:spPr>
          <a:xfrm>
            <a:off x="9235440" y="2029968"/>
            <a:ext cx="1005840" cy="713232"/>
          </a:xfrm>
          <a:prstGeom prst="roundRect">
            <a:avLst>
              <a:gd name="adj" fmla="val 6410"/>
            </a:avLst>
          </a:prstGeom>
          <a:solidFill>
            <a:srgbClr val="1D76B5"/>
          </a:solidFill>
          <a:ln w="12700">
            <a:solidFill>
              <a:srgbClr val="1D76B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281160" y="22677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Dashboard</a:t>
            </a:r>
            <a:endParaRPr lang="en-US" sz="920" dirty="0"/>
          </a:p>
        </p:txBody>
      </p:sp>
      <p:sp>
        <p:nvSpPr>
          <p:cNvPr id="20" name="Shape 17"/>
          <p:cNvSpPr/>
          <p:nvPr/>
        </p:nvSpPr>
        <p:spPr>
          <a:xfrm>
            <a:off x="10469880" y="2029968"/>
            <a:ext cx="1005840" cy="713232"/>
          </a:xfrm>
          <a:prstGeom prst="roundRect">
            <a:avLst>
              <a:gd name="adj" fmla="val 6410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515600" y="226771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보고</a:t>
            </a:r>
            <a:endParaRPr lang="en-US" sz="920" dirty="0"/>
          </a:p>
        </p:txBody>
      </p:sp>
      <p:sp>
        <p:nvSpPr>
          <p:cNvPr id="22" name="Text 19"/>
          <p:cNvSpPr/>
          <p:nvPr/>
        </p:nvSpPr>
        <p:spPr>
          <a:xfrm>
            <a:off x="9034272" y="223113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62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268712" y="223113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962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973568" y="3255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65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목표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973568" y="3621024"/>
            <a:ext cx="342900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20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취합시간 단축</a:t>
            </a:r>
            <a:endParaRPr lang="en-US" sz="1200" dirty="0"/>
          </a:p>
          <a:p>
            <a:r>
              <a:rPr lang="en-US" sz="120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병목·불량 원인 조기 파악</a:t>
            </a:r>
            <a:endParaRPr lang="en-US" sz="1200" dirty="0"/>
          </a:p>
          <a:p>
            <a:r>
              <a:rPr lang="en-US" sz="120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기반 의사결정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76B5"/>
          </a:solidFill>
          <a:ln w="12700">
            <a:solidFill>
              <a:srgbClr val="1D76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65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현행 업무 진단: 부서별 병목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27080" y="29260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D76B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6455664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62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(주)에스엔디 | 현장업무 자동화·통합 Dashboard·Data Room 구축 요약</a:t>
            </a:r>
            <a:endParaRPr lang="en-US" sz="750" dirty="0"/>
          </a:p>
        </p:txBody>
      </p:sp>
      <p:pic>
        <p:nvPicPr>
          <p:cNvPr id="7" name="Image 0" descr="/mnt/data/snd_render/page-3.png">    </p:cNvPr>
          <p:cNvPicPr>
            <a:picLocks noChangeAspect="1"/>
          </p:cNvPicPr>
          <p:nvPr/>
        </p:nvPicPr>
        <p:blipFill>
          <a:blip r:embed="rId1"/>
          <a:srcRect l="13820" r="13820" t="0" b="0"/>
          <a:stretch/>
        </p:blipFill>
        <p:spPr>
          <a:xfrm>
            <a:off x="502920" y="960120"/>
            <a:ext cx="2377440" cy="4251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0" y="1051560"/>
            <a:ext cx="2331720" cy="39319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00400" y="1051560"/>
            <a:ext cx="2331720" cy="502920"/>
          </a:xfrm>
          <a:prstGeom prst="rect">
            <a:avLst/>
          </a:prstGeom>
          <a:solidFill>
            <a:srgbClr val="1D76B5"/>
          </a:solidFill>
          <a:ln w="12700">
            <a:solidFill>
              <a:srgbClr val="1D76B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0" y="120700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관리팀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383280" y="1874520"/>
            <a:ext cx="1965960" cy="2103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10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생산실적·KPI 수작업 취합</a:t>
            </a:r>
            <a:endParaRPr lang="en-US" sz="1100" dirty="0"/>
          </a:p>
          <a:p>
            <a:r>
              <a:rPr lang="en-US" sz="110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납기·진행현황 개별 확인</a:t>
            </a:r>
            <a:endParaRPr lang="en-US" sz="1100" dirty="0"/>
          </a:p>
          <a:p>
            <a:r>
              <a:rPr lang="en-US" sz="110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경영보고 작성시간 과다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401568" y="4224528"/>
            <a:ext cx="1938528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962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데이터는 있으나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962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분석·자동화 연결 부족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989320" y="1051560"/>
            <a:ext cx="2331720" cy="39319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989320" y="1051560"/>
            <a:ext cx="2331720" cy="50292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89320" y="120700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생산팀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172200" y="1874520"/>
            <a:ext cx="1965960" cy="2103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10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MCT·Router 작업시간 분석 부족</a:t>
            </a:r>
            <a:endParaRPr lang="en-US" sz="1100" dirty="0"/>
          </a:p>
          <a:p>
            <a:r>
              <a:rPr lang="en-US" sz="110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설비 이상이력 개별 관리</a:t>
            </a:r>
            <a:endParaRPr lang="en-US" sz="1100" dirty="0"/>
          </a:p>
          <a:p>
            <a:r>
              <a:rPr lang="en-US" sz="110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병목·지연 원인 파악 지연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190488" y="4224528"/>
            <a:ext cx="1938528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962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데이터는 있으나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962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분석·자동화 연결 부족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778240" y="1051560"/>
            <a:ext cx="2331720" cy="39319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778240" y="1051560"/>
            <a:ext cx="2331720" cy="5029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78240" y="120700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품질팀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961120" y="1874520"/>
            <a:ext cx="1965960" cy="2103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10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검사·불량 데이터 수작업 분석</a:t>
            </a:r>
            <a:endParaRPr lang="en-US" sz="1100" dirty="0"/>
          </a:p>
          <a:p>
            <a:r>
              <a:rPr lang="en-US" sz="110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FAI·검사성적서 개별 관리</a:t>
            </a:r>
            <a:endParaRPr lang="en-US" sz="1100" dirty="0"/>
          </a:p>
          <a:p>
            <a:r>
              <a:rPr lang="en-US" sz="110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반복불량 패턴 파악 어려움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979408" y="4224528"/>
            <a:ext cx="1938528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962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데이터는 있으나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962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분석·자동화 연결 부족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154680" y="550468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공통 문제: 부서별 데이터가 분산되어 실시간 판단과 개선 실행이 늦어짐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76B5"/>
          </a:solidFill>
          <a:ln w="12700">
            <a:solidFill>
              <a:srgbClr val="1D76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65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목표 시스템 개념: 현장 데이터가 흐르는 구조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27080" y="29260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D76B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6455664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62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(주)에스엔디 | 현장업무 자동화·통합 Dashboard·Data Room 구축 요약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481328" cy="777240"/>
          </a:xfrm>
          <a:prstGeom prst="roundRect">
            <a:avLst>
              <a:gd name="adj" fmla="val 5882"/>
            </a:avLst>
          </a:prstGeom>
          <a:solidFill>
            <a:srgbClr val="596273"/>
          </a:solidFill>
          <a:ln w="12700">
            <a:solidFill>
              <a:srgbClr val="5962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1226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작업지시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2075688" y="2084832"/>
            <a:ext cx="256032" cy="292608"/>
          </a:xfrm>
          <a:prstGeom prst="rightArrow">
            <a:avLst/>
          </a:prstGeom>
          <a:solidFill>
            <a:srgbClr val="D7DEE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77440" y="1828800"/>
            <a:ext cx="1481328" cy="777240"/>
          </a:xfrm>
          <a:prstGeom prst="roundRect">
            <a:avLst>
              <a:gd name="adj" fmla="val 5882"/>
            </a:avLst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211226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생산실적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3950208" y="2084832"/>
            <a:ext cx="256032" cy="292608"/>
          </a:xfrm>
          <a:prstGeom prst="rightArrow">
            <a:avLst/>
          </a:prstGeom>
          <a:solidFill>
            <a:srgbClr val="D7DEE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51960" y="1828800"/>
            <a:ext cx="1481328" cy="777240"/>
          </a:xfrm>
          <a:prstGeom prst="roundRect">
            <a:avLst>
              <a:gd name="adj" fmla="val 5882"/>
            </a:avLst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211226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품질검사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5824728" y="2084832"/>
            <a:ext cx="256032" cy="292608"/>
          </a:xfrm>
          <a:prstGeom prst="rightArrow">
            <a:avLst/>
          </a:prstGeom>
          <a:solidFill>
            <a:srgbClr val="D7DEE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828800"/>
            <a:ext cx="1481328" cy="777240"/>
          </a:xfrm>
          <a:prstGeom prst="roundRect">
            <a:avLst>
              <a:gd name="adj" fmla="val 5882"/>
            </a:avLst>
          </a:prstGeom>
          <a:solidFill>
            <a:srgbClr val="1D76B5"/>
          </a:solidFill>
          <a:ln w="12700">
            <a:solidFill>
              <a:srgbClr val="1D76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211226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MES/DB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7699248" y="2084832"/>
            <a:ext cx="256032" cy="292608"/>
          </a:xfrm>
          <a:prstGeom prst="rightArrow">
            <a:avLst/>
          </a:prstGeom>
          <a:solidFill>
            <a:srgbClr val="D7DEE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01000" y="1828800"/>
            <a:ext cx="1481328" cy="777240"/>
          </a:xfrm>
          <a:prstGeom prst="roundRect">
            <a:avLst>
              <a:gd name="adj" fmla="val 5882"/>
            </a:avLst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0" y="211226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Dashboard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9573768" y="2084832"/>
            <a:ext cx="256032" cy="292608"/>
          </a:xfrm>
          <a:prstGeom prst="rightArrow">
            <a:avLst/>
          </a:prstGeom>
          <a:solidFill>
            <a:srgbClr val="D7DEE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875520" y="1828800"/>
            <a:ext cx="1481328" cy="777240"/>
          </a:xfrm>
          <a:prstGeom prst="roundRect">
            <a:avLst>
              <a:gd name="adj" fmla="val 5882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21240" y="211226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분석·보고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594360" y="3246120"/>
            <a:ext cx="525780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3246120"/>
            <a:ext cx="82296" cy="2011680"/>
          </a:xfrm>
          <a:prstGeom prst="rect">
            <a:avLst/>
          </a:prstGeom>
          <a:solidFill>
            <a:srgbClr val="1D76B5"/>
          </a:solidFill>
          <a:ln w="12700">
            <a:solidFill>
              <a:srgbClr val="1D76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3410712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65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To-Be 업무 흐름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95528" y="3776472"/>
            <a:ext cx="489204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04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작업지시 → MCT·Router 가공 → 실적 입력 → 품질검사 → Dashboard 반영</a:t>
            </a:r>
            <a:endParaRPr lang="en-US" sz="1040" dirty="0"/>
          </a:p>
          <a:p>
            <a:r>
              <a:rPr lang="en-US" sz="104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작업번호·품목번호로 도면, 검사성적서, 사진, 개선이력을 자동 연결</a:t>
            </a:r>
            <a:endParaRPr lang="en-US" sz="1040" dirty="0"/>
          </a:p>
          <a:p>
            <a:r>
              <a:rPr lang="en-US" sz="104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AI가 지연·불량·KPI 변동 원인을 요약하고 보고서 초안 작성</a:t>
            </a:r>
            <a:endParaRPr lang="en-US" sz="1040" dirty="0"/>
          </a:p>
        </p:txBody>
      </p:sp>
      <p:pic>
        <p:nvPicPr>
          <p:cNvPr id="28" name="Image 0" descr="/mnt/data/snd_render/page-4.png">    </p:cNvPr>
          <p:cNvPicPr>
            <a:picLocks noChangeAspect="1"/>
          </p:cNvPicPr>
          <p:nvPr/>
        </p:nvPicPr>
        <p:blipFill>
          <a:blip r:embed="rId1"/>
          <a:srcRect l="0" r="0" t="31841" b="31841"/>
          <a:stretch/>
        </p:blipFill>
        <p:spPr>
          <a:xfrm>
            <a:off x="6492240" y="3218688"/>
            <a:ext cx="4572000" cy="214884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594360" y="568756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핵심은 “시스템 구축”보다 “현장 데이터 연결과 활용 습관”입니다.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76B5"/>
          </a:solidFill>
          <a:ln w="12700">
            <a:solidFill>
              <a:srgbClr val="1D76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65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기능 설계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27080" y="29260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D76B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6455664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62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(주)에스엔디 | 현장업무 자동화·통합 Dashboard·Data Room 구축 요약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58368" y="1051560"/>
            <a:ext cx="2971800" cy="438912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33502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76B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관리 Dashboard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1965960"/>
            <a:ext cx="251460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15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생산실적 자동집계</a:t>
            </a:r>
            <a:endParaRPr lang="en-US" sz="1150" dirty="0"/>
          </a:p>
          <a:p>
            <a:r>
              <a:rPr lang="en-US" sz="115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KPI·납기위험 자동표시</a:t>
            </a:r>
            <a:endParaRPr lang="en-US" sz="1150" dirty="0"/>
          </a:p>
          <a:p>
            <a:r>
              <a:rPr lang="en-US" sz="115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일·주·월 보고서 생성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32688" y="3657600"/>
            <a:ext cx="242316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8862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962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자동화 결과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4400" y="4224528"/>
            <a:ext cx="246888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보고시간 단축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신속한 경영판단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51960" y="1051560"/>
            <a:ext cx="2971800" cy="438912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0" y="133502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998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생산 Dashboard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07992" y="1965960"/>
            <a:ext cx="251460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15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MCT·Router 작업현황</a:t>
            </a:r>
            <a:endParaRPr lang="en-US" sz="1150" dirty="0"/>
          </a:p>
          <a:p>
            <a:r>
              <a:rPr lang="en-US" sz="115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계획 대비 실제 작업시간</a:t>
            </a:r>
            <a:endParaRPr lang="en-US" sz="1150" dirty="0"/>
          </a:p>
          <a:p>
            <a:r>
              <a:rPr lang="en-US" sz="115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설비정지·정비이력 관리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26280" y="3657600"/>
            <a:ext cx="242316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07992" y="38862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962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자동화 결과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07992" y="4224528"/>
            <a:ext cx="246888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병목공정 조기파악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생산성 개선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845552" y="1051560"/>
            <a:ext cx="2971800" cy="438912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28432" y="133502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8C28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품질 Dashboard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101584" y="1965960"/>
            <a:ext cx="251460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15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검사·불량·재검 현황</a:t>
            </a:r>
            <a:endParaRPr lang="en-US" sz="1150" dirty="0"/>
          </a:p>
          <a:p>
            <a:r>
              <a:rPr lang="en-US" sz="115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불량유형 TOP 분석</a:t>
            </a:r>
            <a:endParaRPr lang="en-US" sz="1150" dirty="0"/>
          </a:p>
          <a:p>
            <a:r>
              <a:rPr lang="en-US" sz="115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FAI·검사성적서 관리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19872" y="3657600"/>
            <a:ext cx="242316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01584" y="38862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962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자동화 결과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101584" y="4224528"/>
            <a:ext cx="246888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불량 원인 분석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예방관리 강화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76B5"/>
          </a:solidFill>
          <a:ln w="12700">
            <a:solidFill>
              <a:srgbClr val="1D76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65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Data Room: 작업번호 기반 자료 통합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27080" y="29260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D76B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6455664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62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(주)에스엔디 | 현장업무 자동화·통합 Dashboard·Data Room 구축 요약</a:t>
            </a:r>
            <a:endParaRPr lang="en-US" sz="750" dirty="0"/>
          </a:p>
        </p:txBody>
      </p:sp>
      <p:pic>
        <p:nvPicPr>
          <p:cNvPr id="7" name="Image 0" descr="/mnt/data/snd_render/page-5.png">    </p:cNvPr>
          <p:cNvPicPr>
            <a:picLocks noChangeAspect="1"/>
          </p:cNvPicPr>
          <p:nvPr/>
        </p:nvPicPr>
        <p:blipFill>
          <a:blip r:embed="rId1"/>
          <a:srcRect l="4140" r="4140" t="0" b="0"/>
          <a:stretch/>
        </p:blipFill>
        <p:spPr>
          <a:xfrm>
            <a:off x="502920" y="960120"/>
            <a:ext cx="3337560" cy="4709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60520" y="1024128"/>
            <a:ext cx="320040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160520" y="1024128"/>
            <a:ext cx="82296" cy="2011680"/>
          </a:xfrm>
          <a:prstGeom prst="rect">
            <a:avLst/>
          </a:prstGeom>
          <a:solidFill>
            <a:srgbClr val="1D76B5"/>
          </a:solidFill>
          <a:ln w="12700">
            <a:solidFill>
              <a:srgbClr val="1D76B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61688" y="11887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65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자료실 분류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361688" y="1554480"/>
            <a:ext cx="283464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04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작업지시·도면·생산실적·설비이력</a:t>
            </a:r>
            <a:endParaRPr lang="en-US" sz="1040" dirty="0"/>
          </a:p>
          <a:p>
            <a:r>
              <a:rPr lang="en-US" sz="104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검사성적서·FAI·불량·재검자료</a:t>
            </a:r>
            <a:endParaRPr lang="en-US" sz="1040" dirty="0"/>
          </a:p>
          <a:p>
            <a:r>
              <a:rPr lang="en-US" sz="104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개선제안·원인분석·조치결과·사진</a:t>
            </a:r>
            <a:endParaRPr lang="en-US" sz="1040" dirty="0"/>
          </a:p>
        </p:txBody>
      </p:sp>
      <p:sp>
        <p:nvSpPr>
          <p:cNvPr id="12" name="Shape 9"/>
          <p:cNvSpPr/>
          <p:nvPr/>
        </p:nvSpPr>
        <p:spPr>
          <a:xfrm>
            <a:off x="7543800" y="1024128"/>
            <a:ext cx="33832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543800" y="1024128"/>
            <a:ext cx="82296" cy="201168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44968" y="11887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65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데이터 필드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7744968" y="1554480"/>
            <a:ext cx="301752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04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작업번호, 품목, 고객, 공정, 설비, 작업자</a:t>
            </a:r>
            <a:endParaRPr lang="en-US" sz="1040" dirty="0"/>
          </a:p>
          <a:p>
            <a:r>
              <a:rPr lang="en-US" sz="104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생산수량, 작업시간, 검사결과, 불량유형</a:t>
            </a:r>
            <a:endParaRPr lang="en-US" sz="1040" dirty="0"/>
          </a:p>
          <a:p>
            <a:r>
              <a:rPr lang="en-US" sz="104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등록일, Rev., 승인상태, 첨부파일</a:t>
            </a:r>
            <a:endParaRPr lang="en-US" sz="1040" dirty="0"/>
          </a:p>
        </p:txBody>
      </p:sp>
      <p:sp>
        <p:nvSpPr>
          <p:cNvPr id="16" name="Shape 13"/>
          <p:cNvSpPr/>
          <p:nvPr/>
        </p:nvSpPr>
        <p:spPr>
          <a:xfrm>
            <a:off x="4160520" y="3611880"/>
            <a:ext cx="676656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160520" y="3611880"/>
            <a:ext cx="82296" cy="16459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61688" y="3776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65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운영 원칙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4361688" y="4142232"/>
            <a:ext cx="640080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04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모든 자료를 작업번호·품목번호로 연결</a:t>
            </a:r>
            <a:endParaRPr lang="en-US" sz="1040" dirty="0"/>
          </a:p>
          <a:p>
            <a:r>
              <a:rPr lang="en-US" sz="104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현장자료는 발생 즉시 등록하고 Dashboard와 연동</a:t>
            </a:r>
            <a:endParaRPr lang="en-US" sz="1040" dirty="0"/>
          </a:p>
          <a:p>
            <a:r>
              <a:rPr lang="en-US" sz="104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품질·개선 이력을 검색 가능한 자산으로 축적</a:t>
            </a:r>
            <a:endParaRPr lang="en-US" sz="10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76B5"/>
          </a:solidFill>
          <a:ln w="12700">
            <a:solidFill>
              <a:srgbClr val="1D76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65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단계별 PoC 구축 로드맵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27080" y="29260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D76B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6455664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62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(주)에스엔디 | 현장업무 자동화·통합 Dashboard·Data Room 구축 요약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13232" y="960120"/>
            <a:ext cx="1481328" cy="3474720"/>
          </a:xfrm>
          <a:prstGeom prst="roundRect">
            <a:avLst>
              <a:gd name="adj" fmla="val 3704"/>
            </a:avLst>
          </a:prstGeom>
          <a:solidFill>
            <a:srgbClr val="EDF7FF"/>
          </a:solidFill>
          <a:ln w="12700">
            <a:solidFill>
              <a:srgbClr val="1D76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3856" y="1216152"/>
            <a:ext cx="640080" cy="640080"/>
          </a:xfrm>
          <a:prstGeom prst="ellipse">
            <a:avLst/>
          </a:prstGeom>
          <a:solidFill>
            <a:srgbClr val="1D76B5"/>
          </a:solidFill>
          <a:ln w="12700">
            <a:solidFill>
              <a:srgbClr val="1D76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33856" y="142646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1단계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32104" y="2130552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65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통합 Dashboard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0392" y="2834640"/>
            <a:ext cx="1207008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생산·품질·납기 KPI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2231136" y="2532888"/>
            <a:ext cx="256032" cy="310896"/>
          </a:xfrm>
          <a:prstGeom prst="rightArrow">
            <a:avLst/>
          </a:prstGeom>
          <a:solidFill>
            <a:srgbClr val="D7DEE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87752" y="960120"/>
            <a:ext cx="1481328" cy="3474720"/>
          </a:xfrm>
          <a:prstGeom prst="roundRect">
            <a:avLst>
              <a:gd name="adj" fmla="val 3704"/>
            </a:avLst>
          </a:prstGeom>
          <a:solidFill>
            <a:srgbClr val="EDF7FF"/>
          </a:solidFill>
          <a:ln w="12700">
            <a:solidFill>
              <a:srgbClr val="1D76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08376" y="1216152"/>
            <a:ext cx="640080" cy="640080"/>
          </a:xfrm>
          <a:prstGeom prst="ellipse">
            <a:avLst/>
          </a:prstGeom>
          <a:solidFill>
            <a:srgbClr val="1D76B5"/>
          </a:solidFill>
          <a:ln w="12700">
            <a:solidFill>
              <a:srgbClr val="1D76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08376" y="142646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2단계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706624" y="2130552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65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생산실적 자동화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24912" y="2834640"/>
            <a:ext cx="1207008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실적·KPI 자동집계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4105656" y="2532888"/>
            <a:ext cx="256032" cy="310896"/>
          </a:xfrm>
          <a:prstGeom prst="rightArrow">
            <a:avLst/>
          </a:prstGeom>
          <a:solidFill>
            <a:srgbClr val="D7DEE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62272" y="960120"/>
            <a:ext cx="1481328" cy="3474720"/>
          </a:xfrm>
          <a:prstGeom prst="roundRect">
            <a:avLst>
              <a:gd name="adj" fmla="val 3704"/>
            </a:avLst>
          </a:prstGeom>
          <a:solidFill>
            <a:srgbClr val="EDF7FF"/>
          </a:solidFill>
          <a:ln w="12700">
            <a:solidFill>
              <a:srgbClr val="1D76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82896" y="1216152"/>
            <a:ext cx="640080" cy="640080"/>
          </a:xfrm>
          <a:prstGeom prst="ellipse">
            <a:avLst/>
          </a:prstGeom>
          <a:solidFill>
            <a:srgbClr val="1D76B5"/>
          </a:solidFill>
          <a:ln w="12700">
            <a:solidFill>
              <a:srgbClr val="1D76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82896" y="142646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3단계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81144" y="2130552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65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공정관리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99432" y="2834640"/>
            <a:ext cx="1207008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MCT·Router 지연 분석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5980176" y="2532888"/>
            <a:ext cx="256032" cy="310896"/>
          </a:xfrm>
          <a:prstGeom prst="rightArrow">
            <a:avLst/>
          </a:prstGeom>
          <a:solidFill>
            <a:srgbClr val="D7DEE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36792" y="960120"/>
            <a:ext cx="1481328" cy="3474720"/>
          </a:xfrm>
          <a:prstGeom prst="roundRect">
            <a:avLst>
              <a:gd name="adj" fmla="val 3704"/>
            </a:avLst>
          </a:prstGeom>
          <a:solidFill>
            <a:srgbClr val="FFF8EF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57416" y="1216152"/>
            <a:ext cx="640080" cy="64008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57416" y="142646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4단계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455664" y="2130552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65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품질관리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73952" y="2834640"/>
            <a:ext cx="1207008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검사·불량·재검 분석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7854696" y="2532888"/>
            <a:ext cx="256032" cy="310896"/>
          </a:xfrm>
          <a:prstGeom prst="rightArrow">
            <a:avLst/>
          </a:prstGeom>
          <a:solidFill>
            <a:srgbClr val="D7DEE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11312" y="960120"/>
            <a:ext cx="1481328" cy="3474720"/>
          </a:xfrm>
          <a:prstGeom prst="roundRect">
            <a:avLst>
              <a:gd name="adj" fmla="val 3704"/>
            </a:avLst>
          </a:prstGeom>
          <a:solidFill>
            <a:srgbClr val="FFF8EF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31936" y="1216152"/>
            <a:ext cx="640080" cy="64008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31936" y="142646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5단계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330184" y="2130552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65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Data Room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348472" y="2834640"/>
            <a:ext cx="1207008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도면·품질자료 통합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9729216" y="2532888"/>
            <a:ext cx="256032" cy="310896"/>
          </a:xfrm>
          <a:prstGeom prst="rightArrow">
            <a:avLst/>
          </a:prstGeom>
          <a:solidFill>
            <a:srgbClr val="D7DEE8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085832" y="960120"/>
            <a:ext cx="1481328" cy="3474720"/>
          </a:xfrm>
          <a:prstGeom prst="roundRect">
            <a:avLst>
              <a:gd name="adj" fmla="val 3704"/>
            </a:avLst>
          </a:prstGeom>
          <a:solidFill>
            <a:srgbClr val="FFF8EF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506456" y="1216152"/>
            <a:ext cx="640080" cy="64008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06456" y="142646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6단계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0204704" y="2130552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65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분석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222992" y="2834640"/>
            <a:ext cx="1207008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요약·원인분석·보고 자동화</a:t>
            </a:r>
            <a:endParaRPr lang="en-US" sz="940" dirty="0"/>
          </a:p>
        </p:txBody>
      </p:sp>
      <p:sp>
        <p:nvSpPr>
          <p:cNvPr id="42" name="Text 40"/>
          <p:cNvSpPr/>
          <p:nvPr/>
        </p:nvSpPr>
        <p:spPr>
          <a:xfrm>
            <a:off x="777240" y="5074920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65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초기 범위: 생산실적 자동집계 + MCT·Router 공정관리 + 품질·불량 분석 + 통합 Dashboard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777240" y="553212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확대 방향: AI 원인분석 → 설비 예방보전 → 불량예측 → 생산계획 최적화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76B5"/>
          </a:solidFill>
          <a:ln w="12700">
            <a:solidFill>
              <a:srgbClr val="1D76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65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기대효과와 최종 제안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27080" y="29260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D76B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6455664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47104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62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(주)에스엔디 | 현장업무 자동화·통합 Dashboard·Data Room 구축 요약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475488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51560"/>
            <a:ext cx="82296" cy="1874520"/>
          </a:xfrm>
          <a:prstGeom prst="rect">
            <a:avLst/>
          </a:prstGeom>
          <a:solidFill>
            <a:srgbClr val="1D76B5"/>
          </a:solidFill>
          <a:ln w="12700">
            <a:solidFill>
              <a:srgbClr val="1D76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121615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65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정량적 기대효과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86968" y="1581912"/>
            <a:ext cx="438912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04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생산실적 취합 및 보고서 작성시간 20~30% 단축</a:t>
            </a:r>
            <a:endParaRPr lang="en-US" sz="1040" dirty="0"/>
          </a:p>
          <a:p>
            <a:r>
              <a:rPr lang="en-US" sz="104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생산·품질 데이터 분석시간 30% 이상 절감</a:t>
            </a:r>
            <a:endParaRPr lang="en-US" sz="1040" dirty="0"/>
          </a:p>
          <a:p>
            <a:r>
              <a:rPr lang="en-US" sz="104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공정·품질 문제 대응시간 20% 이상 단축</a:t>
            </a:r>
            <a:endParaRPr lang="en-US" sz="1040" dirty="0"/>
          </a:p>
        </p:txBody>
      </p:sp>
      <p:sp>
        <p:nvSpPr>
          <p:cNvPr id="11" name="Shape 9"/>
          <p:cNvSpPr/>
          <p:nvPr/>
        </p:nvSpPr>
        <p:spPr>
          <a:xfrm>
            <a:off x="685800" y="3246120"/>
            <a:ext cx="475488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246120"/>
            <a:ext cx="82296" cy="187452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341071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365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정성적 기대효과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86968" y="3776472"/>
            <a:ext cx="438912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04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생산·품질·관리 데이터의 통합관리와 실시간 가시성 확보</a:t>
            </a:r>
            <a:endParaRPr lang="en-US" sz="1040" dirty="0"/>
          </a:p>
          <a:p>
            <a:r>
              <a:rPr lang="en-US" sz="104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경험 중심 업무에서 데이터 기반 현장관리 체계로 전환</a:t>
            </a:r>
            <a:endParaRPr lang="en-US" sz="1040" dirty="0"/>
          </a:p>
          <a:p>
            <a:r>
              <a:rPr lang="en-US" sz="104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실무자의 AI·MES 데이터 활용 및 자체 문제해결 역량 강화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6035040" y="1078992"/>
            <a:ext cx="5257800" cy="4005072"/>
          </a:xfrm>
          <a:prstGeom prst="roundRect">
            <a:avLst>
              <a:gd name="adj" fmla="val 1370"/>
            </a:avLst>
          </a:prstGeom>
          <a:solidFill>
            <a:srgbClr val="F8FAFD"/>
          </a:solidFill>
          <a:ln w="12700">
            <a:solidFill>
              <a:srgbClr val="D7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141732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65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PoC 과제 정의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55080" y="1901952"/>
            <a:ext cx="452628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“생산실적·공정·설비·품질 데이터를 MES와 연계하여 통합 Dashboard로 관리하고, 생성형 AI와 No-code/Low-code를 활용하여 반복업무 자동화와 생산·품질 현장문제 해결을 지원한다.”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55080" y="367588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76B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PBL/S-OJT 연결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4069080"/>
            <a:ext cx="44348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r>
              <a:rPr lang="en-US" sz="110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현장 데이터 수집</a:t>
            </a:r>
            <a:endParaRPr lang="en-US" sz="1100" dirty="0"/>
          </a:p>
          <a:p>
            <a:r>
              <a:rPr lang="en-US" sz="110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AI 분석 및 개선안 도출</a:t>
            </a:r>
            <a:endParaRPr lang="en-US" sz="1100" dirty="0"/>
          </a:p>
          <a:p>
            <a:r>
              <a:rPr lang="en-US" sz="1100" dirty="0">
                <a:solidFill>
                  <a:srgbClr val="1D263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Dashboard 확인 및 성과 검증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5715000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65D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다음 실행: 파일럿 대상 품목·공정 1개 선정 → 샘플 데이터 정리 → Dashboard 초안 설계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SnD Summary Plan</dc:title>
  <dc:subject>SnD 현장업무 자동화 통합 Dashboard Data Room 구축 요약 계획</dc:subject>
  <dc:creator>OpenAI</dc:creator>
  <cp:lastModifiedBy>OpenAI</cp:lastModifiedBy>
  <cp:revision>1</cp:revision>
  <dcterms:created xsi:type="dcterms:W3CDTF">2026-08-24T09:25:23Z</dcterms:created>
  <dcterms:modified xsi:type="dcterms:W3CDTF">2026-08-24T09:25:23Z</dcterms:modified>
</cp:coreProperties>
</file>